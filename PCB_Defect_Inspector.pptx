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DF4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61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61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61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Наша v1 · PKU</c:v>
                  </c:pt>
                  <c:pt idx="1">
                    <c:v>Наша v2 · PKU+DsPCBSD+</c:v>
                  </c:pt>
                  <c:pt idx="2">
                    <c:v>YOLO26 · честный тест</c:v>
                  </c:pt>
                  <c:pt idx="3">
                    <c:v>YOLOv8m · DsPCBSD+</c:v>
                  </c:pt>
                  <c:pt idx="4">
                    <c:v>YOLOv8m-seg · компоненты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0.944</c:v>
                </c:pt>
                <c:pt idx="1">
                  <c:v>0.927</c:v>
                </c:pt>
                <c:pt idx="2">
                  <c:v>0.839</c:v>
                </c:pt>
                <c:pt idx="3">
                  <c:v>0.839</c:v>
                </c:pt>
                <c:pt idx="4">
                  <c:v>0.568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E8EDF4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E8EDF4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b"/>
        <c:majorGridlines>
          <c:spPr>
            <a:ln w="6350" cap="flat">
              <a:solidFill>
                <a:srgbClr val="2C35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620"/>
        </a:solidFill>
        <a:ln>
          <a:noFill/>
        </a:ln>
        <a:effectLst/>
      </c:spPr>
    </c:plotArea>
    <c:plotVisOnly val="1"/>
    <c:dispBlanksAs val="span"/>
  </c:chart>
  <c:spPr>
    <a:solidFill>
      <a:srgbClr val="0F16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4A9EFF"/>
            </a:solidFill>
            <a:ln w="31750" cap="flat">
              <a:solidFill>
                <a:srgbClr val="4A9E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9EFF"/>
              </a:solidFill>
              <a:ln w="9525" cap="flat">
                <a:solidFill>
                  <a:srgbClr val="4A9E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0.696</c:v>
                </c:pt>
                <c:pt idx="1">
                  <c:v>0.709</c:v>
                </c:pt>
                <c:pt idx="2">
                  <c:v>0.664</c:v>
                </c:pt>
                <c:pt idx="3">
                  <c:v>0.744</c:v>
                </c:pt>
                <c:pt idx="4">
                  <c:v>0.781</c:v>
                </c:pt>
                <c:pt idx="5">
                  <c:v>0.863</c:v>
                </c:pt>
                <c:pt idx="6">
                  <c:v>0.857</c:v>
                </c:pt>
                <c:pt idx="7">
                  <c:v>0.862</c:v>
                </c:pt>
                <c:pt idx="8">
                  <c:v>0.835</c:v>
                </c:pt>
                <c:pt idx="9">
                  <c:v>0.881</c:v>
                </c:pt>
                <c:pt idx="10">
                  <c:v>0.909</c:v>
                </c:pt>
                <c:pt idx="11">
                  <c:v>0.888</c:v>
                </c:pt>
                <c:pt idx="12">
                  <c:v>0.924</c:v>
                </c:pt>
                <c:pt idx="13">
                  <c:v>0.931</c:v>
                </c:pt>
                <c:pt idx="14">
                  <c:v>0.871</c:v>
                </c:pt>
                <c:pt idx="15">
                  <c:v>0.879</c:v>
                </c:pt>
                <c:pt idx="16">
                  <c:v>0.879</c:v>
                </c:pt>
                <c:pt idx="17">
                  <c:v>0.905</c:v>
                </c:pt>
                <c:pt idx="18">
                  <c:v>0.923</c:v>
                </c:pt>
                <c:pt idx="19">
                  <c:v>0.866</c:v>
                </c:pt>
                <c:pt idx="20">
                  <c:v>0.937</c:v>
                </c:pt>
                <c:pt idx="21">
                  <c:v>0.935</c:v>
                </c:pt>
                <c:pt idx="22">
                  <c:v>0.924</c:v>
                </c:pt>
                <c:pt idx="23">
                  <c:v>0.888</c:v>
                </c:pt>
                <c:pt idx="24">
                  <c:v>0.901</c:v>
                </c:pt>
                <c:pt idx="25">
                  <c:v>0.941</c:v>
                </c:pt>
                <c:pt idx="26">
                  <c:v>0.926</c:v>
                </c:pt>
                <c:pt idx="27">
                  <c:v>0.88</c:v>
                </c:pt>
                <c:pt idx="28">
                  <c:v>0.938</c:v>
                </c:pt>
                <c:pt idx="29">
                  <c:v>0.926</c:v>
                </c:pt>
                <c:pt idx="30">
                  <c:v>0.879</c:v>
                </c:pt>
                <c:pt idx="31">
                  <c:v>0.878</c:v>
                </c:pt>
                <c:pt idx="32">
                  <c:v>0.863</c:v>
                </c:pt>
                <c:pt idx="33">
                  <c:v>0.884</c:v>
                </c:pt>
                <c:pt idx="34">
                  <c:v>0.863</c:v>
                </c:pt>
                <c:pt idx="35">
                  <c:v>0.886</c:v>
                </c:pt>
                <c:pt idx="36">
                  <c:v>0.88</c:v>
                </c:pt>
                <c:pt idx="37">
                  <c:v>0.84</c:v>
                </c:pt>
                <c:pt idx="38">
                  <c:v>0.865</c:v>
                </c:pt>
                <c:pt idx="39">
                  <c:v>0.853</c:v>
                </c:pt>
                <c:pt idx="40">
                  <c:v>0.847</c:v>
                </c:pt>
                <c:pt idx="41">
                  <c:v>0.84</c:v>
                </c:pt>
                <c:pt idx="42">
                  <c:v>0.846</c:v>
                </c:pt>
                <c:pt idx="43">
                  <c:v>0.87</c:v>
                </c:pt>
                <c:pt idx="44">
                  <c:v>0.872</c:v>
                </c:pt>
                <c:pt idx="45">
                  <c:v>0.847</c:v>
                </c:pt>
                <c:pt idx="46">
                  <c:v>0.849</c:v>
                </c:pt>
                <c:pt idx="47">
                  <c:v>0.818</c:v>
                </c:pt>
                <c:pt idx="48">
                  <c:v>0.824</c:v>
                </c:pt>
                <c:pt idx="49">
                  <c:v>0.828</c:v>
                </c:pt>
                <c:pt idx="50">
                  <c:v>0.839</c:v>
                </c:pt>
                <c:pt idx="51">
                  <c:v>0.848</c:v>
                </c:pt>
                <c:pt idx="52">
                  <c:v>0.859</c:v>
                </c:pt>
                <c:pt idx="53">
                  <c:v>0.863</c:v>
                </c:pt>
                <c:pt idx="54">
                  <c:v>0.864</c:v>
                </c:pt>
                <c:pt idx="55">
                  <c:v>0.859</c:v>
                </c:pt>
                <c:pt idx="56">
                  <c:v>0.855</c:v>
                </c:pt>
                <c:pt idx="57">
                  <c:v>0.856</c:v>
                </c:pt>
                <c:pt idx="58">
                  <c:v>0.855</c:v>
                </c:pt>
                <c:pt idx="59">
                  <c:v>0.855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2C35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6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4 — сервис определения дефектов печатных плат. Мы сделали его для главного места, где дефекты стоят денег — производства.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линии электроники контроль — это ОТК или AOI-комплекс. AOI — миллионы и настройка под плату, поэтому на малых производствах контроль остаётся ручным. Наш сервис — контроль, который ставится на любое рабочее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Веб-сервис: FastAPI, веб-интерфейс и библиотека моделей, которую можно менять под задачу. Два режима: анализ фотографии с отчётом и живая камера. Инференс на удалённой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Демонстрация: фото-анализ с чек-листом ТЗ, живая камера (палец закрывает дефект — детекция гаснет), переключение моделей на одной плате.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основная модель: 10 классов, точность 0.978. Важнее — как считали: валидация на невиданных платах. Контр-пример: YOLO26 0.995 — утечка, честно 0.839 против наших 0.944.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доказательства: паспорт в весах (показываем командой), журналы обучения с кривыми, воспроизводимость бенчмарком. Плюс git-история.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рабочий сервис, своя модель, честные метрики. Дальше — дообучение на данных конкретного производства: сотня фото и вечер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Запасной слайд для вопросов: все 6 моделей, метрики и роли. Здесь же — лицензии, если спросят про прод.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ХАКАТОН «ОСЕННИЙ ХАКАТОН 2026» · ЗАДАНИЕ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PCB Defect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Inspector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 контроля качества печатных плат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производства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Команда: ML · Backend · 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8064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8064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45–50 FPS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58064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5806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классов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5806440"/>
            <a:ext cx="1965960" cy="47548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5806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моделей</a:t>
            </a:r>
            <a:endParaRPr lang="en-US" sz="1400" dirty="0"/>
          </a:p>
        </p:txBody>
      </p:sp>
      <p:pic>
        <p:nvPicPr>
          <p:cNvPr id="12" name="Image 0" descr="slides_build/title_det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868680"/>
            <a:ext cx="3913632" cy="3529584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7726680" y="452628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Разрыв дорожки (open_circuit) — детекция нашей моделью, живой скриншот сервиса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качества плат на производстве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146304" cy="146304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8013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AOI-комплекс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Эталон отрасли по точности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Миллионы рублей за линию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Настройка под каждую плату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Далеко не всем доступен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16002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4296" y="1984248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8013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Ручной контроль (ОТК)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4296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Дёшево на старте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Глаза устают к обеду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Секунды на каждую плату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Человеческий фактор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16002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223046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85632" y="1984248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8741664" y="18013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Наш сервис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85632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Любое рабочее место с камерой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Вердикт за десятки миллисекунд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24/7, без усталости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Офисный ПК с одной GPU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Ловим дефекты из ТЗ:  </a:t>
            </a:r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разрывы дорожек · непропаи · повреждения компонентов · иные дефекты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устроено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75104" cy="1417320"/>
          </a:xfrm>
          <a:prstGeom prst="roundRect">
            <a:avLst>
              <a:gd name="adj" fmla="val 4516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30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/ камера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243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браузер рабочего места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583180"/>
            <a:ext cx="219456" cy="0"/>
          </a:xfrm>
          <a:prstGeom prst="line">
            <a:avLst/>
          </a:prstGeom>
          <a:noFill/>
          <a:ln w="2540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874520"/>
            <a:ext cx="1975104" cy="1417320"/>
          </a:xfrm>
          <a:prstGeom prst="roundRect">
            <a:avLst>
              <a:gd name="adj" fmla="val 4516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07792" y="2130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 FastAPI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07792" y="26243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2583180"/>
            <a:ext cx="219456" cy="0"/>
          </a:xfrm>
          <a:prstGeom prst="line">
            <a:avLst/>
          </a:prstGeom>
          <a:noFill/>
          <a:ln w="2540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84064" y="1874520"/>
            <a:ext cx="1975104" cy="1417320"/>
          </a:xfrm>
          <a:prstGeom prst="roundRect">
            <a:avLst>
              <a:gd name="adj" fmla="val 4516"/>
            </a:avLst>
          </a:prstGeom>
          <a:solidFill>
            <a:srgbClr val="223046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75504" y="2130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Модели YOLO ×6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75504" y="26243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переключение на лету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744" y="2583180"/>
            <a:ext cx="219456" cy="0"/>
          </a:xfrm>
          <a:prstGeom prst="line">
            <a:avLst/>
          </a:prstGeom>
          <a:noFill/>
          <a:ln w="2540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51776" y="1874520"/>
            <a:ext cx="1975104" cy="1417320"/>
          </a:xfrm>
          <a:prstGeom prst="roundRect">
            <a:avLst>
              <a:gd name="adj" fmla="val 4516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43216" y="2130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Вердикт-движок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43216" y="26243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годен · проверка · брак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63456" y="2583180"/>
            <a:ext cx="219456" cy="0"/>
          </a:xfrm>
          <a:prstGeom prst="line">
            <a:avLst/>
          </a:prstGeom>
          <a:noFill/>
          <a:ln w="25400">
            <a:solidFill>
              <a:srgbClr val="4A9E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19488" y="1874520"/>
            <a:ext cx="1975104" cy="1417320"/>
          </a:xfrm>
          <a:prstGeom prst="roundRect">
            <a:avLst>
              <a:gd name="adj" fmla="val 4516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2130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 и чек-лист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10928" y="26243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пункты ТЗ в ответе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45–50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кадров в секунду на одной RTX 3050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45864" y="3977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мс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4245864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инференс кадра — real-time с запасом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43088" y="3977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943088" y="4800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классов дефектов, включая «иные» из ТЗ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Тяжёлый инференс — на сервере с GPU; на рабочем месте контролёра — только браузер и камера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Живая демонстрация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всё, что вы увидите, считается в реальном времени</a:t>
            </a:r>
            <a:endParaRPr lang="en-US" sz="1700" dirty="0"/>
          </a:p>
        </p:txBody>
      </p:sp>
      <p:pic>
        <p:nvPicPr>
          <p:cNvPr id="4" name="Image 0" descr="slides_build/demo_dry_joi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4069080" cy="3054096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9893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непропаянные элементы — 9 из 9 на реальном фото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12080" y="313639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990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Анализ фотографии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вердикт «годен / проверка / брак» + чек-лист пунктов ТЗ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12080" y="4096512"/>
            <a:ext cx="146304" cy="146304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3950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Живая камера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0" y="4315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маски дефектов в реальном времени, поток стабилизирован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212080" y="505663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Переключение моделей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одна плата — две честные интерпретации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МЕТРИКИ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Честная валидация: платы, которых модель не видела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309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45920"/>
            <a:ext cx="4416552" cy="3977640"/>
          </a:xfrm>
          <a:prstGeom prst="roundRect">
            <a:avLst>
              <a:gd name="adj" fmla="val 1609"/>
            </a:avLst>
          </a:prstGeom>
          <a:solidFill>
            <a:srgbClr val="1A2332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Ловушка утечки данных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Готовая YOLO26 (2025) показала 0.995 на нашей выборке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По-платный анализ: 0.99+ на всех трёх платах — модель обучалась на них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Её собственный честный тест: 0.839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Наши метрики воспроизводит независимый скрипт bench_val.py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Валидация: PKU-Market-PCB-corrected, board-disjoint сплит — 152 фото на платах, не встречавшихся при обучении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ДОКАЗАТЕЛЬСТВО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Модели обучены нами — и это проверяемо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0632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пик 0.941 · эпоха 26 → в продакшн уходит best.pt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5257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по эпохам — реальный журнал обучения объединённой модели (60 эпох, 14.6 тыс. изображений)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23760" y="1645920"/>
            <a:ext cx="4416552" cy="1783080"/>
          </a:xfrm>
          <a:prstGeom prst="roundRect">
            <a:avLst>
              <a:gd name="adj" fmla="val 3590"/>
            </a:avLst>
          </a:prstGeom>
          <a:solidFill>
            <a:srgbClr val="0B1017"/>
          </a:solidFill>
          <a:ln w="9525">
            <a:solidFill>
              <a:srgbClr val="2C3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52360" y="1810512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B9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-c "import torch; ..."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2026-10-08T22:23   version: 8.4.174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train_args: data=ml\merged.yaml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epochs=60  imgsz=640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3648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37033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Паспорт внутри файла весов: дата, датасет, эпохи — вскрываем командой на сцене за 30 секунд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269480" y="43616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0" y="44165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Полные журналы обучения и git-история: кривые, гиперпараметры, все 6 моделей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26948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0" y="512978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Воспроизводимость: bench_val.py на тех же данных повторяет 0.944 / 0.927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Готово сегодня — и следующий шаг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Готово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Веб-сервис: фото-анализ + живая камера 45–50 FPS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Своя модель на объединении датасетов: 10 классов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Честные метрики: board-disjoint, бенчмарк 6 моделей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Инженерия: 43 автотеста, воспроизводимость, резервирование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Развитие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46520" y="21488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Дообучение под линию производства — вечер на сотню фото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Собственные классы компонентов (непропай, установка)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SAHI-тайлинг для крупных плат с мелкими дефектами</a:t>
            </a:r>
            <a:endParaRPr lang="en-US" sz="150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Интеграция с учётом производства: API, MES-системы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качества, который ставится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любое рабочее место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ДЛЯ ВОПРОСОВ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Библиотека моделей в системе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914400"/>
                <a:gridCol w="1188720"/>
                <a:gridCol w="4599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Модель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Тип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Классы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mAP@0.5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Роль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CC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pku-dspcbsd-merged (наша v2)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детекция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0.927 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CC7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активная: дорожки + «иные дефекты»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pku-yolov8s (наша v1)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детекция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0.944 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максимум на классах дорожек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yolo26 (чужая, PKU)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детекция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0.839 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бенчмарк новейшей архитектуры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janani · DeepPCB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детекция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0.985 **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бейзлайн, домен вырезок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janani · DsPCBSD+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детекция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0.839 **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бейзлайн, фрагменты AOI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keremberke · seg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сегментация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0.568 **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DF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компоненты: непропай 9/9, установка 10/10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5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наша валидация board-disjoint (152 фото)   ** метрики авторов на их валидации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Лицензии: Ultralytics AGPL-3.0 (внутреннее использование без ограничений), датасеты CC BY 4.0 с атрибуцией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PCB Defect Inspector — сервис контроля качества печатных плат</dc:title>
  <dc:subject>PptxGenJS Presentation</dc:subject>
  <dc:creator>PCB Defect Inspector team</dc:creator>
  <cp:lastModifiedBy>PCB Defect Inspector team</cp:lastModifiedBy>
  <cp:revision>1</cp:revision>
  <dcterms:created xsi:type="dcterms:W3CDTF">2026-10-09T07:21:14Z</dcterms:created>
  <dcterms:modified xsi:type="dcterms:W3CDTF">2026-10-09T07:21:14Z</dcterms:modified>
</cp:coreProperties>
</file>